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94360"/>
            <a:ext cx="1097280" cy="411480"/>
          </a:xfrm>
          <a:prstGeom prst="roundRect">
            <a:avLst/>
          </a:prstGeom>
          <a:solidFill>
            <a:srgbClr val="2D7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AFC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0390" y="523875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AFCFF"/>
                </a:solidFill>
                <a:latin typeface="Aptos Display"/>
              </a:defRPr>
            </a:pPr>
            <a:r>
              <a:t>Modules &amp;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1EE"/>
                </a:solidFill>
                <a:latin typeface="Aptos"/>
              </a:defRPr>
            </a:pPr>
            <a:r>
              <a:t>The “don’t-repeat-yourself” superpower in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3383280"/>
          </a:xfrm>
          <a:prstGeom prst="roundRect">
            <a:avLst/>
          </a:prstGeom>
          <a:solidFill>
            <a:srgbClr val="1D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98245" y="2240280"/>
            <a:ext cx="2480945" cy="622300"/>
          </a:xfrm>
          <a:prstGeom prst="roundRect">
            <a:avLst/>
          </a:prstGeom>
          <a:solidFill>
            <a:srgbClr val="2D7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FAFCFF"/>
                </a:solidFill>
                <a:latin typeface="Aptos"/>
              </a:defRPr>
            </a:pPr>
            <a:r>
              <a:t>📦 PACKAGE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3246120"/>
            <a:ext cx="1828800" cy="658368"/>
          </a:xfrm>
          <a:prstGeom prst="roundRect">
            <a:avLst/>
          </a:prstGeom>
          <a:solidFill>
            <a:srgbClr val="3A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141F30"/>
                </a:solidFill>
                <a:latin typeface="Aptos"/>
              </a:defRPr>
            </a:pPr>
            <a:r>
              <a:t>module.py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4114800"/>
            <a:ext cx="1828800" cy="658368"/>
          </a:xfrm>
          <a:prstGeom prst="roundRect">
            <a:avLst/>
          </a:prstGeom>
          <a:solidFill>
            <a:srgbClr val="F6C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141F30"/>
                </a:solidFill>
                <a:latin typeface="Aptos"/>
              </a:defRPr>
            </a:pPr>
            <a:r>
              <a:t>another.py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6766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FAFCFF"/>
                </a:solidFill>
                <a:latin typeface="Aptos Display"/>
              </a:defRPr>
            </a:pPr>
            <a:r>
              <a:t>Write once.</a:t>
            </a:r>
          </a:p>
          <a:p>
            <a:pPr>
              <a:spcAft>
                <a:spcPts val="1600"/>
              </a:spcAft>
              <a:defRPr sz="2800" b="1">
                <a:solidFill>
                  <a:srgbClr val="3AC4DC"/>
                </a:solidFill>
                <a:latin typeface="Aptos Display"/>
              </a:defRPr>
            </a:pPr>
            <a:r>
              <a:t>Import everywhere.</a:t>
            </a:r>
          </a:p>
          <a:p>
            <a:pPr>
              <a:spcAft>
                <a:spcPts val="1600"/>
              </a:spcAft>
              <a:defRPr sz="1900" b="0">
                <a:solidFill>
                  <a:srgbClr val="D2DCE8"/>
                </a:solidFill>
                <a:latin typeface="Aptos Display"/>
              </a:defRPr>
            </a:pPr>
            <a:r>
              <a:t>And never copy-paste that 200-line helper again. 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F30"/>
                </a:solidFill>
                <a:latin typeface="Aptos Display"/>
              </a:defRPr>
            </a:pPr>
            <a:r>
              <a:t>First: What is a Module?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97D"/>
                </a:solidFill>
                <a:latin typeface="Aptos"/>
              </a:defRPr>
            </a:pPr>
            <a:r>
              <a:t>A Python file containing reusable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937760" cy="4114800"/>
          </a:xfrm>
          <a:prstGeom prst="roundRect">
            <a:avLst/>
          </a:prstGeom>
          <a:solidFill>
            <a:srgbClr val="192230"/>
          </a:solidFill>
          <a:ln>
            <a:solidFill>
              <a:srgbClr val="2D7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AFCFF"/>
                </a:solidFill>
                <a:latin typeface="Consolas" panose="020B0609020204030204"/>
              </a:defRPr>
            </a:pPr>
            <a:r>
              <a:t>math_utils.py</a:t>
            </a:r>
            <a:br/>
            <a:br/>
            <a:r>
              <a:t>PI = 3.14159</a:t>
            </a:r>
            <a:br/>
            <a:br/>
            <a:r>
              <a:t>def area(r):</a:t>
            </a:r>
            <a:br/>
            <a:r>
              <a:t>    return PI * r * 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389120" cy="91440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41F30"/>
                </a:solidFill>
                <a:latin typeface="Aptos"/>
              </a:defRPr>
            </a:pPr>
            <a:r>
              <a:t>MODULE = one .py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63240"/>
            <a:ext cx="4389120" cy="914400"/>
          </a:xfrm>
          <a:prstGeom prst="roundRect">
            <a:avLst/>
          </a:prstGeom>
          <a:solidFill>
            <a:srgbClr val="E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232D3C"/>
                </a:solidFill>
                <a:latin typeface="Aptos"/>
              </a:defRPr>
            </a:pPr>
            <a:r>
              <a:t>Functions + classes + variables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297680"/>
            <a:ext cx="4389120" cy="914400"/>
          </a:xfrm>
          <a:prstGeom prst="roundRect">
            <a:avLst/>
          </a:prstGeom>
          <a:solidFill>
            <a:srgbClr val="FFF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141F30"/>
                </a:solidFill>
                <a:latin typeface="Aptos"/>
              </a:defRPr>
            </a:pPr>
            <a:r>
              <a:t>Reusable → import 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AFCFF"/>
                </a:solidFill>
                <a:latin typeface="Aptos Display"/>
              </a:defRPr>
            </a:pPr>
            <a:r>
              <a:t>The Import Story 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1EE"/>
                </a:solidFill>
                <a:latin typeface="Aptos"/>
              </a:defRPr>
            </a:pPr>
            <a:r>
              <a:t>Python modules are like borrowing tools instead of rebuilding the toolbox.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4754880" cy="2743200"/>
          </a:xfrm>
          <a:prstGeom prst="roundRect">
            <a:avLst/>
          </a:prstGeom>
          <a:solidFill>
            <a:srgbClr val="192230"/>
          </a:solidFill>
          <a:ln>
            <a:solidFill>
              <a:srgbClr val="3A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AFCFF"/>
                </a:solidFill>
                <a:latin typeface="Consolas" panose="020B0609020204030204"/>
              </a:defRPr>
            </a:pPr>
            <a:r>
              <a:t>import math</a:t>
            </a:r>
            <a:br/>
            <a:br/>
            <a:r>
              <a:t>print(math.sqrt(144))</a:t>
            </a:r>
            <a:br/>
            <a:r>
              <a:t># 12.0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83080"/>
            <a:ext cx="4389120" cy="610235"/>
          </a:xfrm>
          <a:prstGeom prst="roundRect">
            <a:avLst/>
          </a:prstGeom>
          <a:solidFill>
            <a:srgbClr val="2D7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AFCFF"/>
                </a:solidFill>
                <a:latin typeface="Aptos"/>
              </a:defRPr>
            </a:pPr>
            <a:r>
              <a:t>🧰 Python says: “I’ve got that.”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017520"/>
            <a:ext cx="4389120" cy="606425"/>
          </a:xfrm>
          <a:prstGeom prst="roundRect">
            <a:avLst/>
          </a:prstGeom>
          <a:solidFill>
            <a:srgbClr val="4A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AFCFF"/>
                </a:solidFill>
                <a:latin typeface="Aptos"/>
              </a:defRPr>
            </a:pPr>
            <a:r>
              <a:t>You say: “Thanks, math!”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4248150"/>
            <a:ext cx="4389120" cy="726440"/>
          </a:xfrm>
          <a:prstGeom prst="roundRect">
            <a:avLst/>
          </a:prstGeom>
          <a:solidFill>
            <a:srgbClr val="E15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AFCFF"/>
                </a:solidFill>
                <a:latin typeface="Aptos"/>
              </a:defRPr>
            </a:pPr>
            <a:r>
              <a:t>Funny fact: copying code is how bugs get cloned. 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F30"/>
                </a:solidFill>
                <a:latin typeface="Aptos Display"/>
              </a:defRPr>
            </a:pPr>
            <a:r>
              <a:t>How Import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97D"/>
                </a:solidFill>
                <a:latin typeface="Aptos"/>
              </a:defRPr>
            </a:pPr>
            <a:r>
              <a:t>Python finds the module, loads it, then gives you access to its names.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017520" cy="616585"/>
          </a:xfrm>
          <a:prstGeom prst="roundRect">
            <a:avLst/>
          </a:prstGeom>
          <a:solidFill>
            <a:srgbClr val="2D7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41F3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384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41F30"/>
                </a:solidFill>
              </a:defRPr>
            </a:pPr>
            <a:r>
              <a:t>import</a:t>
            </a:r>
          </a:p>
          <a:p>
            <a:pPr algn="ctr">
              <a:defRPr sz="1400">
                <a:solidFill>
                  <a:srgbClr val="232D3C"/>
                </a:solidFill>
              </a:defRPr>
            </a:pPr>
            <a:r>
              <a:t>Ask for the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500" y="1931162"/>
            <a:ext cx="411480" cy="411480"/>
          </a:xfrm>
          <a:prstGeom prst="round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41F3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017520" cy="607060"/>
          </a:xfrm>
          <a:prstGeom prst="roundRect">
            <a:avLst/>
          </a:prstGeom>
          <a:solidFill>
            <a:srgbClr val="3A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41F3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74315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41F30"/>
                </a:solidFill>
              </a:defRPr>
            </a:pPr>
            <a:r>
              <a:t>load</a:t>
            </a:r>
          </a:p>
          <a:p>
            <a:pPr algn="ctr">
              <a:defRPr sz="1400">
                <a:solidFill>
                  <a:srgbClr val="232D3C"/>
                </a:solidFill>
              </a:defRPr>
            </a:pPr>
            <a:r>
              <a:t>Python locates &amp; executes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931162"/>
            <a:ext cx="411480" cy="411480"/>
          </a:xfrm>
          <a:prstGeom prst="round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41F3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017520" cy="607695"/>
          </a:xfrm>
          <a:prstGeom prst="roundRect">
            <a:avLst/>
          </a:prstGeom>
          <a:solidFill>
            <a:srgbClr val="F6C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141F3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74950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41F30"/>
                </a:solidFill>
              </a:defRPr>
            </a:pPr>
            <a:r>
              <a:t>use</a:t>
            </a:r>
          </a:p>
          <a:p>
            <a:pPr algn="ctr">
              <a:defRPr sz="1400">
                <a:solidFill>
                  <a:srgbClr val="232D3C"/>
                </a:solidFill>
              </a:defRPr>
            </a:pPr>
            <a:r>
              <a:t>Call functions / 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1815" y="4301490"/>
            <a:ext cx="6069965" cy="1005840"/>
          </a:xfrm>
          <a:prstGeom prst="roundRect">
            <a:avLst/>
          </a:prstGeom>
          <a:solidFill>
            <a:srgbClr val="192230"/>
          </a:solidFill>
          <a:ln>
            <a:solidFill>
              <a:srgbClr val="4AA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AFCFF"/>
                </a:solidFill>
                <a:latin typeface="Consolas" panose="020B0609020204030204"/>
              </a:defRPr>
            </a:pPr>
            <a:r>
              <a:t>import random</a:t>
            </a:r>
            <a:br/>
            <a:r>
              <a:t>print(random.choice(['Tea','Coffee','Debugging']))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F30"/>
                </a:solidFill>
                <a:latin typeface="Aptos Display"/>
              </a:defRPr>
            </a:pPr>
            <a:r>
              <a:t>Okay… Then What Is a Package?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97D"/>
                </a:solidFill>
                <a:latin typeface="Aptos"/>
              </a:defRPr>
            </a:pPr>
            <a:r>
              <a:t>A package is a folder that groups related modules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749039" cy="347472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965960"/>
            <a:ext cx="3108960" cy="594360"/>
          </a:xfrm>
          <a:prstGeom prst="roundRect">
            <a:avLst/>
          </a:prstGeom>
          <a:solidFill>
            <a:srgbClr val="F6C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41F30"/>
                </a:solidFill>
                <a:latin typeface="Aptos"/>
              </a:defRPr>
            </a:pPr>
            <a:r>
              <a:t>📁 shopping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788920"/>
            <a:ext cx="2286000" cy="475488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  <a:latin typeface="Aptos"/>
              </a:defRPr>
            </a:pPr>
            <a:r>
              <a:t>cart.py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3447287"/>
            <a:ext cx="2286000" cy="475488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  <a:latin typeface="Aptos"/>
              </a:defRPr>
            </a:pPr>
            <a:r>
              <a:t>payment.py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4105656"/>
            <a:ext cx="2286000" cy="475488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32D3C"/>
                </a:solidFill>
                <a:latin typeface="Aptos"/>
              </a:defRPr>
            </a:pPr>
            <a:r>
              <a:t>orders.py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152015"/>
            <a:ext cx="5486400" cy="636905"/>
          </a:xfrm>
          <a:prstGeom prst="roundRect">
            <a:avLst/>
          </a:prstGeom>
          <a:solidFill>
            <a:srgbClr val="2D7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FAFCFF"/>
                </a:solidFill>
                <a:latin typeface="Aptos"/>
              </a:defRPr>
            </a:pPr>
            <a:r>
              <a:t>PACKAGE = organized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154680"/>
            <a:ext cx="5486400" cy="575310"/>
          </a:xfrm>
          <a:prstGeom prst="roundRect">
            <a:avLst/>
          </a:prstGeom>
          <a:solidFill>
            <a:srgbClr val="3A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141F30"/>
                </a:solidFill>
                <a:latin typeface="Aptos"/>
              </a:defRPr>
            </a:pPr>
            <a:r>
              <a:t>Less chaos. More “where did I put that?”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095750"/>
            <a:ext cx="5486400" cy="571500"/>
          </a:xfrm>
          <a:prstGeom prst="roundRect">
            <a:avLst/>
          </a:prstGeom>
          <a:solidFill>
            <a:srgbClr val="FFF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141F30"/>
                </a:solidFill>
                <a:latin typeface="Aptos"/>
              </a:defRPr>
            </a:pPr>
            <a:r>
              <a:t>Think: folder → files → reusable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AFCFF"/>
                </a:solidFill>
                <a:latin typeface="Aptos Display"/>
              </a:defRPr>
            </a:pPr>
            <a:r>
              <a:t>Module vs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1EE"/>
                </a:solidFill>
                <a:latin typeface="Aptos"/>
              </a:defRPr>
            </a:pPr>
            <a:r>
              <a:t>The easiest way to remember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4754880" cy="3383280"/>
          </a:xfrm>
          <a:prstGeom prst="roundRect">
            <a:avLst/>
          </a:prstGeom>
          <a:solidFill>
            <a:srgbClr val="2D7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AFCFF"/>
                </a:solidFill>
                <a:latin typeface="Aptos"/>
              </a:defRPr>
            </a:pPr>
            <a: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AFCFF"/>
                </a:solidFill>
              </a:defRPr>
            </a:pPr>
            <a:r>
              <a:t>• Usually one .py file</a:t>
            </a:r>
          </a:p>
          <a:p>
            <a:pPr>
              <a:spcAft>
                <a:spcPts val="1000"/>
              </a:spcAft>
              <a:defRPr sz="1800">
                <a:solidFill>
                  <a:srgbClr val="FAFCFF"/>
                </a:solidFill>
              </a:defRPr>
            </a:pPr>
            <a:r>
              <a:t>• Contains reusable code</a:t>
            </a:r>
          </a:p>
          <a:p>
            <a:pPr>
              <a:spcAft>
                <a:spcPts val="1000"/>
              </a:spcAft>
              <a:defRPr sz="1800">
                <a:solidFill>
                  <a:srgbClr val="FAFCFF"/>
                </a:solidFill>
              </a:defRPr>
            </a:pPr>
            <a:r>
              <a:t>• Example: math_utils.py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37360"/>
            <a:ext cx="4754880" cy="3383280"/>
          </a:xfrm>
          <a:prstGeom prst="roundRect">
            <a:avLst/>
          </a:prstGeom>
          <a:solidFill>
            <a:srgbClr val="3A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141F30"/>
                </a:solidFill>
                <a:latin typeface="Aptos"/>
              </a:defRPr>
            </a:pPr>
            <a:r>
              <a:t>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7432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1F30"/>
                </a:solidFill>
              </a:defRPr>
            </a:pPr>
            <a:r>
              <a:t>• A folder / namespace</a:t>
            </a:r>
          </a:p>
          <a:p>
            <a:pPr>
              <a:spcAft>
                <a:spcPts val="1000"/>
              </a:spcAft>
              <a:defRPr sz="1800">
                <a:solidFill>
                  <a:srgbClr val="141F30"/>
                </a:solidFill>
              </a:defRPr>
            </a:pPr>
            <a:r>
              <a:t>• Groups related modules</a:t>
            </a:r>
          </a:p>
          <a:p>
            <a:pPr>
              <a:spcAft>
                <a:spcPts val="1000"/>
              </a:spcAft>
              <a:defRPr sz="1800">
                <a:solidFill>
                  <a:srgbClr val="141F30"/>
                </a:solidFill>
              </a:defRPr>
            </a:pPr>
            <a:r>
              <a:t>• Example: shopping/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5440680"/>
            <a:ext cx="3383280" cy="411480"/>
          </a:xfrm>
          <a:prstGeom prst="roundRect">
            <a:avLst/>
          </a:prstGeom>
          <a:solidFill>
            <a:srgbClr val="F6C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41F30"/>
                </a:solidFill>
                <a:latin typeface="Aptos"/>
              </a:defRPr>
            </a:pPr>
            <a:r>
              <a:t>FILE  vs 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F30"/>
                </a:solidFill>
                <a:latin typeface="Aptos Display"/>
              </a:defRPr>
            </a:pPr>
            <a:r>
              <a:t>Packages in the Real World 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97D"/>
                </a:solidFill>
                <a:latin typeface="Aptos"/>
              </a:defRPr>
            </a:pPr>
            <a:r>
              <a:t>You already use them—even if you didn’t notice.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417320" cy="617220"/>
          </a:xfrm>
          <a:prstGeom prst="roundRect">
            <a:avLst/>
          </a:prstGeom>
          <a:solidFill>
            <a:srgbClr val="2D7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AFCFF"/>
                </a:solidFill>
                <a:latin typeface="Aptos"/>
              </a:defRPr>
            </a:pPr>
            <a:r>
              <a:t>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691640"/>
            <a:ext cx="3566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F30"/>
                </a:solidFill>
              </a:defRPr>
            </a:pPr>
            <a:r>
              <a:t>HTTP requests</a:t>
            </a:r>
          </a:p>
          <a:p>
            <a:pPr>
              <a:defRPr sz="1400">
                <a:solidFill>
                  <a:srgbClr val="5A697D"/>
                </a:solidFill>
              </a:defRPr>
            </a:pPr>
            <a:r>
              <a:t>Talk to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645920"/>
            <a:ext cx="1417320" cy="617855"/>
          </a:xfrm>
          <a:prstGeom prst="roundRect">
            <a:avLst/>
          </a:prstGeom>
          <a:solidFill>
            <a:srgbClr val="3A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41F30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691640"/>
            <a:ext cx="3566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F30"/>
                </a:solidFill>
              </a:defRPr>
            </a:pPr>
            <a:r>
              <a:t>Numbers</a:t>
            </a:r>
          </a:p>
          <a:p>
            <a:pPr>
              <a:defRPr sz="1400">
                <a:solidFill>
                  <a:srgbClr val="5A697D"/>
                </a:solidFill>
              </a:defRPr>
            </a:pPr>
            <a:r>
              <a:t>Fast array math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1417320" cy="617220"/>
          </a:xfrm>
          <a:prstGeom prst="roundRect">
            <a:avLst/>
          </a:prstGeom>
          <a:solidFill>
            <a:srgbClr val="4AA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141F30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749039"/>
            <a:ext cx="3566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F30"/>
                </a:solidFill>
              </a:defRPr>
            </a:pPr>
            <a:r>
              <a:t>Data</a:t>
            </a:r>
          </a:p>
          <a:p>
            <a:pPr>
              <a:defRPr sz="1400">
                <a:solidFill>
                  <a:srgbClr val="5A697D"/>
                </a:solidFill>
              </a:defRPr>
            </a:pPr>
            <a:r>
              <a:t>Tables &amp;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703320"/>
            <a:ext cx="1417320" cy="615950"/>
          </a:xfrm>
          <a:prstGeom prst="roundRect">
            <a:avLst/>
          </a:prstGeom>
          <a:solidFill>
            <a:srgbClr val="E15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AFCFF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749039"/>
            <a:ext cx="3566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F30"/>
                </a:solidFill>
              </a:defRPr>
            </a:pPr>
            <a:r>
              <a:t>Web</a:t>
            </a:r>
          </a:p>
          <a:p>
            <a:pPr>
              <a:defRPr sz="1400">
                <a:solidFill>
                  <a:srgbClr val="5A697D"/>
                </a:solidFill>
              </a:defRPr>
            </a:pPr>
            <a:r>
              <a:t>Build web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623560"/>
            <a:ext cx="5760720" cy="5029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32D3C"/>
                </a:solidFill>
                <a:latin typeface="Aptos"/>
              </a:defRPr>
            </a:pPr>
            <a:r>
              <a:t>Fun fact: Python’s ecosystem is basically a giant toolbox. 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F30"/>
                </a:solidFill>
                <a:latin typeface="Aptos Display"/>
              </a:defRPr>
            </a:pPr>
            <a:r>
              <a:t>The Tiny Story: Ravi vs. Copy-Paste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97D"/>
                </a:solidFill>
                <a:latin typeface="Aptos"/>
              </a:defRPr>
            </a:pPr>
            <a:r>
              <a:t>A 30-second cautionary tale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35661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500" b="1">
                <a:solidFill>
                  <a:srgbClr val="141F30"/>
                </a:solidFill>
                <a:latin typeface="Aptos"/>
              </a:defRPr>
            </a:pPr>
            <a:r>
              <a:t>👨‍💻 RAVI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200400" cy="3566160"/>
          </a:xfrm>
          <a:prstGeom prst="roundRect">
            <a:avLst/>
          </a:prstGeom>
          <a:solidFill>
            <a:srgbClr val="FF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500" b="1">
                <a:solidFill>
                  <a:srgbClr val="141F30"/>
                </a:solidFill>
                <a:latin typeface="Aptos"/>
              </a:defRPr>
            </a:pPr>
            <a:r>
              <a:t>📋 COPY-PASTE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200400" cy="3566160"/>
          </a:xfrm>
          <a:prstGeom prst="roundRect">
            <a:avLst/>
          </a:prstGeom>
          <a:solidFill>
            <a:srgbClr val="E7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500" b="1">
                <a:solidFill>
                  <a:srgbClr val="141F30"/>
                </a:solidFill>
                <a:latin typeface="Aptos"/>
              </a:defRPr>
            </a:pPr>
            <a:r>
              <a:t>📦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26517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Writes a helper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Copies it into 7 files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Bug appears 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88920"/>
            <a:ext cx="26517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Fixes 1 file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Forgets the other 6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Bug multiplies 🐛🐛🐛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788920"/>
            <a:ext cx="26517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Writes once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Imports everywhere</a:t>
            </a:r>
          </a:p>
          <a:p>
            <a:pPr>
              <a:spcAft>
                <a:spcPts val="900"/>
              </a:spcAft>
              <a:defRPr sz="1600">
                <a:solidFill>
                  <a:srgbClr val="232D3C"/>
                </a:solidFill>
              </a:defRPr>
            </a:pPr>
            <a:r>
              <a:t>• Fix once → done! 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AFCFF"/>
                </a:solidFill>
                <a:latin typeface="Aptos Display"/>
              </a:defRPr>
            </a:pPr>
            <a:r>
              <a:t>Quick Challenge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1EE"/>
                </a:solidFill>
                <a:latin typeface="Aptos"/>
              </a:defRPr>
            </a:pPr>
            <a:r>
              <a:t>What does this print?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5669280" cy="3200400"/>
          </a:xfrm>
          <a:prstGeom prst="roundRect">
            <a:avLst/>
          </a:prstGeom>
          <a:solidFill>
            <a:srgbClr val="192230"/>
          </a:solidFill>
          <a:ln>
            <a:solidFill>
              <a:srgbClr val="F6C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AFCFF"/>
                </a:solidFill>
                <a:latin typeface="Consolas" panose="020B0609020204030204"/>
              </a:defRPr>
            </a:pPr>
            <a:r>
              <a:t># tools.py</a:t>
            </a:r>
            <a:br/>
            <a:r>
              <a:t>x = 10</a:t>
            </a:r>
            <a:br/>
            <a:br/>
            <a:r>
              <a:t># main.py</a:t>
            </a:r>
            <a:br/>
            <a:r>
              <a:t>from tools import x</a:t>
            </a:r>
            <a:br/>
            <a:r>
              <a:t>print(x + 5)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474720" cy="593725"/>
          </a:xfrm>
          <a:prstGeom prst="roundRect">
            <a:avLst/>
          </a:prstGeom>
          <a:solidFill>
            <a:srgbClr val="3A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141F30"/>
                </a:solidFill>
                <a:latin typeface="Aptos"/>
              </a:defRPr>
            </a:pPr>
            <a:r>
              <a:t>A)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3200400"/>
            <a:ext cx="3474720" cy="623570"/>
          </a:xfrm>
          <a:prstGeom prst="roundRect">
            <a:avLst/>
          </a:prstGeom>
          <a:solidFill>
            <a:srgbClr val="2D7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FAFCFF"/>
                </a:solidFill>
                <a:latin typeface="Aptos"/>
              </a:defRPr>
            </a:pPr>
            <a:r>
              <a:t>B)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572000"/>
            <a:ext cx="3474720" cy="529590"/>
          </a:xfrm>
          <a:prstGeom prst="roundRect">
            <a:avLst/>
          </a:prstGeom>
          <a:solidFill>
            <a:srgbClr val="E15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FAFCFF"/>
                </a:solidFill>
                <a:latin typeface="Aptos"/>
              </a:defRPr>
            </a:pPr>
            <a:r>
              <a:t>C)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F30"/>
                </a:solidFill>
                <a:latin typeface="Aptos Display"/>
              </a:defRPr>
            </a:pPr>
            <a:r>
              <a:t>Remember the 3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97D"/>
                </a:solidFill>
                <a:latin typeface="Aptos"/>
              </a:defRPr>
            </a:pPr>
            <a:r>
              <a:t>If you remember these, you’re good to go.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960120" cy="502920"/>
          </a:xfrm>
          <a:prstGeom prst="roundRect">
            <a:avLst/>
          </a:prstGeom>
          <a:solidFill>
            <a:srgbClr val="2D7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41F3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554480"/>
            <a:ext cx="2377440" cy="506095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41F30"/>
                </a:solidFill>
                <a:latin typeface="Aptos"/>
              </a:defRPr>
            </a:pPr>
            <a: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27632"/>
            <a:ext cx="6217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D3C"/>
                </a:solidFill>
              </a:defRPr>
            </a:pPr>
            <a:r>
              <a:t>One reusable Python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11450"/>
            <a:ext cx="960120" cy="456565"/>
          </a:xfrm>
          <a:prstGeom prst="roundRect">
            <a:avLst/>
          </a:prstGeom>
          <a:solidFill>
            <a:srgbClr val="3A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41F3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2711450"/>
            <a:ext cx="2377440" cy="456565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41F30"/>
                </a:solidFill>
                <a:latin typeface="Aptos"/>
              </a:defRPr>
            </a:pPr>
            <a:r>
              <a:t>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797937"/>
            <a:ext cx="6217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D3C"/>
                </a:solidFill>
              </a:defRPr>
            </a:pPr>
            <a:r>
              <a:t>A group of related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22065"/>
            <a:ext cx="960120" cy="502920"/>
          </a:xfrm>
          <a:prstGeom prst="roundRect">
            <a:avLst/>
          </a:prstGeom>
          <a:solidFill>
            <a:srgbClr val="F6C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141F3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750" y="3818890"/>
            <a:ext cx="2377440" cy="502285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141F30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822192"/>
            <a:ext cx="6217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D3C"/>
                </a:solidFill>
              </a:defRPr>
            </a:pPr>
            <a:r>
              <a:t>Bring reusable code into your program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5806440"/>
            <a:ext cx="5943600" cy="502920"/>
          </a:xfrm>
          <a:prstGeom prst="round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AFCFF"/>
                </a:solidFill>
                <a:latin typeface="Aptos"/>
              </a:defRPr>
            </a:pPr>
            <a:r>
              <a:t>Write once → reuse → fewer bugs → happier developer 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087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AFCFF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718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AC4DC"/>
                </a:solidFill>
              </a:defRPr>
            </a:pPr>
            <a:r>
              <a:t>Questions? Or should we import some coffee? 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4251960"/>
            <a:ext cx="3749039" cy="731520"/>
          </a:xfrm>
          <a:prstGeom prst="roundRect">
            <a:avLst/>
          </a:prstGeom>
          <a:solidFill>
            <a:srgbClr val="F6C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141F30"/>
                </a:solidFill>
                <a:latin typeface="Aptos"/>
              </a:defRPr>
            </a:pPr>
            <a:r>
              <a:t>import coffee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91A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2245</Words>
  <Application>WPS Presentation</Application>
  <PresentationFormat>On-screen Show (4:3)</PresentationFormat>
  <Paragraphs>213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Segoe UI Variable Display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mohanraj ajantha</cp:lastModifiedBy>
  <cp:revision>3</cp:revision>
  <dcterms:created xsi:type="dcterms:W3CDTF">2013-01-27T09:14:00Z</dcterms:created>
  <dcterms:modified xsi:type="dcterms:W3CDTF">2026-09-02T15:50:22Z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4A94520FF0D44FE8889A0C4D521A56FD_12</vt:lpwstr>
  </property>
  <property fmtid="{D5CDD505-2E9C-101B-9397-08002B2CF9AE}" pid="3" name="KSOProductBuildVer">
    <vt:lpwstr>1033-12.1.0.28485</vt:lpwstr>
  </property>
</Properties>
</file>