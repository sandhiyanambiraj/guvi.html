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9144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960120"/>
            <a:ext cx="987552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600" b="1">
                <a:solidFill>
                  <a:srgbClr val="F5F8FF"/>
                </a:solidFill>
                <a:latin typeface="Aptos"/>
              </a:rPr>
              <a:t>SQL 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874519"/>
            <a:ext cx="8686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THINK. QUERY. 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23160"/>
            <a:ext cx="89611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An interactive SQL game show for 53 trainees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53 PLAYERS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8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7 ROUNDS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3977639"/>
            <a:ext cx="2423160" cy="96012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999" y="4279392"/>
            <a:ext cx="2423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1 CHAMPION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WELCOME TO THE DATA ARENA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1143000"/>
            <a:ext cx="10972800" cy="448056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182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1417320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37DCFF"/>
                </a:solidFill>
                <a:latin typeface="Aptos Display"/>
              </a:rPr>
              <a:t>⚔  SQL WAR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21488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5F8FF"/>
                </a:solidFill>
                <a:latin typeface="Aptos Display"/>
              </a:rPr>
              <a:t>THINK. QUERY. WIN.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743200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AEBBD2"/>
                </a:solidFill>
                <a:latin typeface="Aptos Display"/>
              </a:rPr>
              <a:t>An interactive SQL game show for 53 trainees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PLAYERS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TEAMS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1616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ROUNDS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703320"/>
            <a:ext cx="2148840" cy="1234440"/>
          </a:xfrm>
          <a:prstGeom prst="round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8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7DCFF"/>
                </a:solidFill>
                <a:latin typeface="Aptos Display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297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EBBD2"/>
                </a:solidFill>
                <a:latin typeface="Aptos Display"/>
              </a:rPr>
              <a:t>CHAMPION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07492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F4B"/>
                </a:solidFill>
                <a:latin typeface="Aptos Display"/>
              </a:rPr>
              <a:t>WELCOME TO THE DATA ARENA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Today, you are not trainees.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You are data engineers competing in SQL WAR.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64008" cy="196596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Think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971800"/>
            <a:ext cx="64008" cy="196596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971800"/>
            <a:ext cx="64008" cy="196596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Compete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971800"/>
            <a:ext cx="2468880" cy="196596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2971800"/>
            <a:ext cx="64008" cy="196596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657600"/>
            <a:ext cx="2011680" cy="1143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Win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NO BORING LECTURE. JUST SQL + TEAMWORK + CHAOS.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BEFORE WE BEGIN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The SQL WAR code of conduct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Keep it competitive. Keep it friendly.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34640"/>
            <a:ext cx="64008" cy="118872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NO GOOGLE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Your brain is the search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83464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64008" cy="118872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TEAM TALK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Discuss. Challenge. Decide.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40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43400"/>
            <a:ext cx="64008" cy="118872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4456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TIME MATTERS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Fast thinking wins 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43400"/>
            <a:ext cx="50749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343400"/>
            <a:ext cx="64008" cy="118872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544568"/>
            <a:ext cx="4617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EXPLAIN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Bonus for the best reasoning.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CHOOSE YOUR SQUAD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53 people   →   8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Pick a name. Pick a captain. Pick your strategy.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64008" cy="105156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880360"/>
            <a:ext cx="64008" cy="105156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SPARK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880360"/>
            <a:ext cx="64008" cy="105156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DATABRICKS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28803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2880360"/>
            <a:ext cx="64008" cy="105156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0815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5661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251960"/>
            <a:ext cx="64008" cy="1051560"/>
          </a:xfrm>
          <a:prstGeom prst="rect">
            <a:avLst/>
          </a:prstGeom>
          <a:solidFill>
            <a:srgbClr val="FFCD46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4251960"/>
            <a:ext cx="64008" cy="105156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251960"/>
            <a:ext cx="64008" cy="105156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CLOUD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59" y="4251960"/>
            <a:ext cx="2468880" cy="105156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59" y="4251960"/>
            <a:ext cx="64008" cy="105156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59" y="445312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59" y="4937760"/>
            <a:ext cx="2011680" cy="2285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QUERY MASTERS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SCOREBOARD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LIVE LEADERBOARD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Every answer changes the battlefield.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Keep this slide ready to update after each 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743200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734056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34056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72968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172968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163824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163824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02736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602736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593592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DATABRICKS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593592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32504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032504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023360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023360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62272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4462272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4453128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453128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92040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4892040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882896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882896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21808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5321808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5312664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312664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751576"/>
            <a:ext cx="3657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08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17320" y="5751576"/>
            <a:ext cx="7132320" cy="292608"/>
          </a:xfrm>
          <a:prstGeom prst="roundRect">
            <a:avLst/>
          </a:prstGeom>
          <a:solidFill>
            <a:srgbClr val="16192C"/>
          </a:solidFill>
          <a:ln>
            <a:solidFill>
              <a:srgbClr val="16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5742432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QUERY MASTERS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5742432"/>
            <a:ext cx="685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 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RAPID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5 seconds. One answer. No hesitation.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10 pts /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command retrieves data?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INSERT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SELECT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UPDATE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SELECT is used to retrieve rows from a table.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filters rows?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ORDER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Consolas"/>
              </a:rPr>
              <a:t>WHERE filters individual rows before grouping.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filters groups?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HAVING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HAVING filters results after GROUP BY.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JOIN keeps all rows from the left table?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INNER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LEFT JOIN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RIGHT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CROSS 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LEFT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LEFT JOIN preserves every row from the left table.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Rapid Fire #5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keyword removes duplicate results?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UNIQUE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DISTINCT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REMOVE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DIFFERENT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DISTINCT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DISTINCT returns unique combinations of selected columns.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FIND THE KILLER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The SQL looks right. But something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20 pts / challenge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KILLER QUERY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Find the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30 seconds · Explain 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744200" cy="214884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10058400" cy="1417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900" b="0">
                <a:solidFill>
                  <a:srgbClr val="F5F8FF"/>
                </a:solidFill>
                <a:latin typeface="Consolas"/>
              </a:rPr>
              <a:t>SELECT department, COUNT(*)</a:t>
            </a:r>
            <a:br/>
            <a:r>
              <a:rPr sz="1600">
                <a:solidFill>
                  <a:srgbClr val="F5F8FF"/>
                </a:solidFill>
                <a:latin typeface="Consolas"/>
              </a:rPr>
              <a:t>FROM employees</a:t>
            </a:r>
            <a:br/>
            <a:r>
              <a:rPr sz="1600">
                <a:solidFill>
                  <a:srgbClr val="F5F8FF"/>
                </a:solidFill>
                <a:latin typeface="Consolas"/>
              </a:rPr>
              <a:t>WHERE COUNT(*) &gt; 5</a:t>
            </a:r>
            <a:br/>
            <a:r>
              <a:rPr sz="1600">
                <a:solidFill>
                  <a:srgbClr val="F5F8FF"/>
                </a:solidFill>
                <a:latin typeface="Consolas"/>
              </a:rPr>
              <a:t>GROUP BY department;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❌ FIX: move COUNT(*) &gt; 5 into HAVING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Consolas"/>
              </a:rPr>
              <a:t>WHERE   →   rows     |     HAVING   →  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PREDICT THE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No execution. No calculator. Just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15 pts /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Output Trap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SELECT 10 + NULL returns…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NULL represents an unknown/missing value; arithmetic with NULL yields NULL.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Output Trap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F5F8FF"/>
                </a:solidFill>
                <a:latin typeface="Consolas"/>
              </a:rPr>
              <a:t>COUNT(*) vs COUNT(salary): are they always equal?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Only with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Only with GROUP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Consolas"/>
              </a:rPr>
              <a:t>COUNT(*) counts rows; COUNT(column) ignores NULLs.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Output Trap #3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How do you correctly filter NULL salaries?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= NULL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IS 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== 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salary &lt;&gt;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salary IS 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NULL is tested with IS NULL / IS NOT NULL, not equality.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MILLIONAIRE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The money goes up. So does the difficulty.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10k   →   100k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₹10,000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sorts the final result?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SORT 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ORDER 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ARRANGE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ORDER 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ORDER BY controls the result ordering.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₹50,000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Which clause filters grouped results?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FILTER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ORDER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 — HAVING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Consolas"/>
              </a:rPr>
              <a:t>Use HAVING after GROUP BY for aggregate-based filtering.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₹100,000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Discuss with your team · Lock your answer before the timer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Find employees earning above the average salary.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GROUP BY salary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59352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4106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 salary &gt; AVG(salary)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WHERE salary &gt; (SELECT AVG(salary)...)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166360" cy="77724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056631"/>
            <a:ext cx="411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2519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HAVING salary &gt; AVG(salary)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94360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 — Subquery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916168"/>
            <a:ext cx="516636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Compare each row's salary to the aggregate average using a subquery.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Two teams. One query. 60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50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BATTLE ARENA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Top 3 highest-paid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Team A vs Team B · 60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3246120" cy="14173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926080"/>
            <a:ext cx="64008" cy="141732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27248"/>
            <a:ext cx="2788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THE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278892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employees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id | name | salary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926080"/>
            <a:ext cx="6903720" cy="141732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926080"/>
            <a:ext cx="64008" cy="141732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127248"/>
            <a:ext cx="6446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YOUR 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11880"/>
            <a:ext cx="644652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Write the SQL query that returns the 3 highest salaries.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F5F8FF"/>
                </a:solidFill>
                <a:latin typeface="Aptos"/>
              </a:rPr>
              <a:t>TIME: 60 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83480"/>
            <a:ext cx="67665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Consolas"/>
              </a:rPr>
              <a:t>Bonus: explain your choice of ORDER BY +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SQL DETECTIVE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Turn a business question into a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75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THE INVESTIGATION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Which department has the highest average salary?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Think like a data engineer: group   →   aggregate   →   rank   →   select.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64008" cy="16002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GROUP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department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017520"/>
            <a:ext cx="64008" cy="160020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CALCULATE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AVG(salary)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64008" cy="160020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SORT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DESC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3017520"/>
            <a:ext cx="2468880" cy="160020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3017520"/>
            <a:ext cx="64008" cy="160020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21868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703320"/>
            <a:ext cx="201168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PICK</a:t>
            </a:r>
            <a:br/>
            <a:r>
              <a:rPr sz="1600">
                <a:solidFill>
                  <a:srgbClr val="F5F8FF"/>
                </a:solidFill>
                <a:latin typeface="Aptos"/>
              </a:rPr>
              <a:t>top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Consolas"/>
              </a:rPr>
              <a:t>Possible pattern: GROUP BY   →   AVG   →   ORDER BY DESC   →   LIMIT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ROUND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FINAL BOSS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5F8FF"/>
                </a:solidFill>
                <a:latin typeface="Aptos"/>
              </a:rPr>
              <a:t>Everything you learned comes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292608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"/>
              </a:rPr>
              <a:t>100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657600"/>
            <a:ext cx="7132320" cy="118872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8620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HOST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33672"/>
            <a:ext cx="630936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“Discuss quickly. Lock your answer. No changing after time!”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A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ROUND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THE FINAL 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Second-highest department average salary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3 minutes · Every team answers · Be ready to explain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607040" cy="1234440"/>
          </a:xfrm>
          <a:prstGeom prst="roundRect">
            <a:avLst/>
          </a:prstGeom>
          <a:solidFill>
            <a:srgbClr val="16192C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82112"/>
            <a:ext cx="12801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136392"/>
            <a:ext cx="8412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Find the department with the SECOND-HIGHEST average salary.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HINT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599432"/>
            <a:ext cx="9418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Consolas"/>
              </a:rPr>
              <a:t>GROUP BY · AVG() · ORDER BY · DESC · OFFSET / ranking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4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31520"/>
            <a:ext cx="9144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6012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SQL WAR CHAMPIONS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96012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TEAM 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46120"/>
            <a:ext cx="89611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“SQL is not about memorizing every command.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94760"/>
            <a:ext cx="89611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It’s about knowing how to think with data.”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983480"/>
            <a:ext cx="9144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THANK YOU · THINK. QUERY. WIN.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FFC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8"/>
          </a:solidFill>
          <a:ln>
            <a:solidFill>
              <a:srgbClr val="0A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600" b="1">
                <a:solidFill>
                  <a:srgbClr val="F5F8FF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ONE LAST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You just solved SQL problems as a team.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That is data engineering: understand the question   →   reason about the data   →   build the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64008" cy="1554480"/>
          </a:xfrm>
          <a:prstGeom prst="rect">
            <a:avLst/>
          </a:prstGeom>
          <a:solidFill>
            <a:srgbClr val="35DCFF"/>
          </a:solidFill>
          <a:ln>
            <a:solidFill>
              <a:srgbClr val="35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the business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971800"/>
            <a:ext cx="64008" cy="1554480"/>
          </a:xfrm>
          <a:prstGeom prst="rect">
            <a:avLst/>
          </a:prstGeom>
          <a:solidFill>
            <a:srgbClr val="9B64FF"/>
          </a:solidFill>
          <a:ln>
            <a:solidFill>
              <a:srgbClr val="9B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about the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64008" cy="1554480"/>
          </a:xfrm>
          <a:prstGeom prst="rect">
            <a:avLst/>
          </a:prstGeom>
          <a:solidFill>
            <a:srgbClr val="FF5096"/>
          </a:solidFill>
          <a:ln>
            <a:solidFill>
              <a:srgbClr val="FF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the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2971800"/>
            <a:ext cx="2468880" cy="1554480"/>
          </a:xfrm>
          <a:prstGeom prst="roundRect">
            <a:avLst/>
          </a:prstGeom>
          <a:solidFill>
            <a:srgbClr val="16192C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2971800"/>
            <a:ext cx="64008" cy="1554480"/>
          </a:xfrm>
          <a:prstGeom prst="rect">
            <a:avLst/>
          </a:prstGeom>
          <a:solidFill>
            <a:srgbClr val="48EB9B"/>
          </a:solidFill>
          <a:ln>
            <a:solidFill>
              <a:srgbClr val="48E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172968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657600"/>
            <a:ext cx="201168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your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THANK YOU, SQL WARRIORS ⚔️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75" cy="64008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02920"/>
            <a:ext cx="54864" cy="502920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75" y="1645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AEBBD2"/>
                </a:solidFill>
                <a:latin typeface="Aptos Display"/>
              </a:rPr>
              <a:t>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EBBD2"/>
                </a:solidFill>
                <a:latin typeface="Aptos Display"/>
              </a:rPr>
              <a:t>SQL WAR  •  THINK · QUERY · WIN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73152"/>
          </a:xfrm>
          <a:prstGeom prst="rect">
            <a:avLst/>
          </a:prstGeom>
          <a:solidFill>
            <a:srgbClr val="37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822960"/>
            <a:ext cx="10881360" cy="5303520"/>
          </a:xfrm>
          <a:prstGeom prst="roundRect">
            <a:avLst/>
          </a:prstGeom>
          <a:solidFill>
            <a:srgbClr val="12192B"/>
          </a:solidFill>
          <a:ln>
            <a:solidFill>
              <a:srgbClr val="182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37DCFF"/>
                </a:solidFill>
                <a:latin typeface="Aptos"/>
              </a:rPr>
              <a:t>LET'S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5F8FF"/>
                </a:solidFill>
                <a:latin typeface="Aptos"/>
              </a:rPr>
              <a:t>Enjoyed the SQL WAR?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7315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AEBBD2"/>
                </a:solidFill>
                <a:latin typeface="Aptos"/>
              </a:rPr>
              <a:t>If you'd like to stay connected, let's connect on LinkedIn!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CF4B"/>
                </a:solidFill>
                <a:latin typeface="Aptos"/>
              </a:rPr>
              <a:t>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https://www.linkedin.com/in/santhiya-nambiraj/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BEB96"/>
                </a:solidFill>
                <a:latin typeface="Aptos"/>
              </a:rPr>
              <a:t>🤝  CONNECT  •  LEARN  •  GROW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EBBD2"/>
                </a:solidFill>
                <a:latin typeface="Aptos"/>
              </a:rPr>
              <a:t>THANK YOU, SQL WARRIORS ⚔️</a:t>
            </a:r>
          </a:p>
        </p:txBody>
      </p:sp>
      <p:pic>
        <p:nvPicPr>
          <p:cNvPr id="11" name="Picture 10" descr="linkedin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508760"/>
            <a:ext cx="233172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3977639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BEB96"/>
                </a:solidFill>
                <a:latin typeface="Aptos"/>
              </a:rPr>
              <a:t>SCAN TO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16459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AEBBD2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