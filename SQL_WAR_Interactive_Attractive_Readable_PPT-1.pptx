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91440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960120"/>
            <a:ext cx="987552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600" b="1">
                <a:solidFill>
                  <a:srgbClr val="F5F8FF"/>
                </a:solidFill>
                <a:latin typeface="Aptos"/>
              </a:rPr>
              <a:t>SQL WAR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874519"/>
            <a:ext cx="86868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THINK. QUERY. WIN.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423160"/>
            <a:ext cx="89611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An interactive SQL game show for 53 trainees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77639"/>
            <a:ext cx="2423160" cy="9601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2423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53 PLAYERS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977639"/>
            <a:ext cx="2423160" cy="9601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279392"/>
            <a:ext cx="2423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8 TEAMS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3977639"/>
            <a:ext cx="2423160" cy="96012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4279392"/>
            <a:ext cx="2423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7 ROUNDS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9" y="3977639"/>
            <a:ext cx="2423160" cy="960120"/>
          </a:xfrm>
          <a:prstGeom prst="roundRect">
            <a:avLst/>
          </a:prstGeom>
          <a:solidFill>
            <a:srgbClr val="16192C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999" y="4279392"/>
            <a:ext cx="2423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1 CHAMPION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105156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WELCOME TO THE DATA ARENA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1143000"/>
            <a:ext cx="10972800" cy="448056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182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141732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37DCFF"/>
                </a:solidFill>
                <a:latin typeface="Aptos Display"/>
              </a:rPr>
              <a:t>⚔  SQL WAR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2148840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5F8FF"/>
                </a:solidFill>
                <a:latin typeface="Aptos Display"/>
              </a:rPr>
              <a:t>THINK. QUERY. WIN.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274320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AEBBD2"/>
                </a:solidFill>
                <a:latin typeface="Aptos Display"/>
              </a:rPr>
              <a:t>An interactive SQL game show for 53 trainees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3703320"/>
            <a:ext cx="2148840" cy="1234440"/>
          </a:xfrm>
          <a:prstGeom prst="round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3767328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7DCFF"/>
                </a:solidFill>
                <a:latin typeface="Aptos Display"/>
              </a:rPr>
              <a:t>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429768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AEBBD2"/>
                </a:solidFill>
                <a:latin typeface="Aptos Display"/>
              </a:rPr>
              <a:t>PLAYERS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3703320"/>
            <a:ext cx="2148840" cy="1234440"/>
          </a:xfrm>
          <a:prstGeom prst="round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767328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7DCFF"/>
                </a:solidFill>
                <a:latin typeface="Aptos Display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429768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AEBBD2"/>
                </a:solidFill>
                <a:latin typeface="Aptos Display"/>
              </a:rPr>
              <a:t>TEAMS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3703320"/>
            <a:ext cx="2148840" cy="1234440"/>
          </a:xfrm>
          <a:prstGeom prst="round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16168" y="3767328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7DCFF"/>
                </a:solidFill>
                <a:latin typeface="Aptos Display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168" y="429768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AEBBD2"/>
                </a:solidFill>
                <a:latin typeface="Aptos Display"/>
              </a:rPr>
              <a:t>ROUNDS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703320"/>
            <a:ext cx="2148840" cy="1234440"/>
          </a:xfrm>
          <a:prstGeom prst="round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8" y="3767328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7DCFF"/>
                </a:solidFill>
                <a:latin typeface="Aptos Display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429768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AEBBD2"/>
                </a:solidFill>
                <a:latin typeface="Aptos Display"/>
              </a:rPr>
              <a:t>CHAMPION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5074920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F4B"/>
                </a:solidFill>
                <a:latin typeface="Aptos Display"/>
              </a:rPr>
              <a:t>WELCOME TO THE DATA ARENA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Today, you are not trainees.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You are data engineers competing in SQL WAR.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2468880" cy="196596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71800"/>
            <a:ext cx="64008" cy="196596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2011680" cy="1143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Think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971800"/>
            <a:ext cx="2468880" cy="196596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2971800"/>
            <a:ext cx="64008" cy="1965960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657600"/>
            <a:ext cx="2011680" cy="1143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Query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971800"/>
            <a:ext cx="2468880" cy="196596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971800"/>
            <a:ext cx="64008" cy="196596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57600"/>
            <a:ext cx="2011680" cy="1143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Compete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2971800"/>
            <a:ext cx="2468880" cy="1965960"/>
          </a:xfrm>
          <a:prstGeom prst="roundRect">
            <a:avLst/>
          </a:prstGeom>
          <a:solidFill>
            <a:srgbClr val="16192C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2971800"/>
            <a:ext cx="64008" cy="1965960"/>
          </a:xfrm>
          <a:prstGeom prst="rect">
            <a:avLst/>
          </a:prstGeom>
          <a:solidFill>
            <a:srgbClr val="48EB9B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657600"/>
            <a:ext cx="2011680" cy="1143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Win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NO BORING LECTURE. JUST SQL + TEAMWORK + CHAOS.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BEFORE WE BEGIN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The SQL WAR code of conduct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Keep it competitive. Keep it friendly.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34640"/>
            <a:ext cx="50749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34640"/>
            <a:ext cx="64008" cy="118872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46177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4617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NO GOOGLE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Your brain is the search engine.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834640"/>
            <a:ext cx="50749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834640"/>
            <a:ext cx="64008" cy="1188720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035808"/>
            <a:ext cx="46177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20440"/>
            <a:ext cx="4617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TEAM TALK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Discuss. Challenge. Decide.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43400"/>
            <a:ext cx="50749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343400"/>
            <a:ext cx="64008" cy="118872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44568"/>
            <a:ext cx="46177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4617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TIME MATTERS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Fast thinking wins points.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343400"/>
            <a:ext cx="50749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343400"/>
            <a:ext cx="64008" cy="1188720"/>
          </a:xfrm>
          <a:prstGeom prst="rect">
            <a:avLst/>
          </a:prstGeom>
          <a:solidFill>
            <a:srgbClr val="48EB9B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544568"/>
            <a:ext cx="46177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029200"/>
            <a:ext cx="4617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EXPLAIN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Bonus for the best reasoning.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CHOOSE YOUR SQUAD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53 people   →   8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Pick a name. Pick a captain. Pick your strategy.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80360"/>
            <a:ext cx="64008" cy="105156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815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8803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2880360"/>
            <a:ext cx="64008" cy="1051560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0815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5661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SPARK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803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880360"/>
            <a:ext cx="64008" cy="105156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815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661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DATABRICKS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28803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59" y="2880360"/>
            <a:ext cx="64008" cy="1051560"/>
          </a:xfrm>
          <a:prstGeom prst="rect">
            <a:avLst/>
          </a:prstGeom>
          <a:solidFill>
            <a:srgbClr val="48EB9B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30815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5661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519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251960"/>
            <a:ext cx="64008" cy="1051560"/>
          </a:xfrm>
          <a:prstGeom prst="rect">
            <a:avLst/>
          </a:prstGeom>
          <a:solidFill>
            <a:srgbClr val="FFCD46"/>
          </a:solidFill>
          <a:ln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531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377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42519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4251960"/>
            <a:ext cx="64008" cy="105156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44531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9377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2519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251960"/>
            <a:ext cx="64008" cy="1051560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4531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9377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CLOUD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59" y="42519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52559" y="4251960"/>
            <a:ext cx="64008" cy="105156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59" y="44531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59" y="49377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QUERY MASTERS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SCOREBOARD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LIVE LEADERBOARD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Every answer changes the battlefield.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Keep this slide ready to update after each round.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743200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734056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734056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72968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172968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163824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SPARK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163824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02736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3602736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593592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DATABRICKS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593592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32504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4032504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023360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023360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462272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4462272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4453128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453128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92040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7320" y="4892040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4882896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882896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321808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17320" y="5321808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0" y="5312664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CLOUD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5312664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751576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17320" y="5751576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45920" y="5742432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QUERY MASTERS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5742432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SQL RAPID FIRE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5 seconds. One answer. No hesitation.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10 pts /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Rapid Fire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command retrieves data?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INSERT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SELECT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UPDATE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SELECT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SELECT is used to retrieve rows from a table.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Rapid Fire 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clause filters rows?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GROUP BY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HAVING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WHERE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ORDER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 — 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Consolas"/>
              </a:rPr>
              <a:t>WHERE filters individual rows before grouping.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Rapid Fire #3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clause filters groups?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WHERE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GROUP BY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HAVING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 — HAVING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HAVING filters results after GROUP BY.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Rapid Fire #4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JOIN keeps all rows from the left table?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INNER JOIN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LEFT JOIN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RIGHT JOIN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CROSS JOIN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LEFT JOIN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LEFT JOIN preserves every row from the left table.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Rapid Fire #5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keyword removes duplicate results?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UNIQUE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DISTINCT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REMOVE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DIFFERENT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DISTINCT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DISTINCT returns unique combinations of selected columns.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FIND THE KILLER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The SQL looks right. But something is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20 pts / challenge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KILLER QUERY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Find the 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30 seconds · Explain why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744200" cy="21488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10058400" cy="1417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900" b="0">
                <a:solidFill>
                  <a:srgbClr val="F5F8FF"/>
                </a:solidFill>
                <a:latin typeface="Consolas"/>
              </a:rPr>
              <a:t>SELECT department, COUNT(*)</a:t>
            </a:r>
            <a:br/>
            <a:r>
              <a:rPr sz="1600">
                <a:solidFill>
                  <a:srgbClr val="F5F8FF"/>
                </a:solidFill>
                <a:latin typeface="Consolas"/>
              </a:rPr>
              <a:t>FROM employees</a:t>
            </a:r>
            <a:br/>
            <a:r>
              <a:rPr sz="1600">
                <a:solidFill>
                  <a:srgbClr val="F5F8FF"/>
                </a:solidFill>
                <a:latin typeface="Consolas"/>
              </a:rPr>
              <a:t>WHERE COUNT(*) &gt; 5</a:t>
            </a:r>
            <a:br/>
            <a:r>
              <a:rPr sz="1600">
                <a:solidFill>
                  <a:srgbClr val="F5F8FF"/>
                </a:solidFill>
                <a:latin typeface="Consolas"/>
              </a:rPr>
              <a:t>GROUP BY department;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❌ FIX: move COUNT(*) &gt; 5 into HAVING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Consolas"/>
              </a:rPr>
              <a:t>WHERE   →   rows     |     HAVING   →   groups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PREDICT THE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No execution. No calculator. Just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15 pts /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Output Trap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SELECT 10 + NULL returns…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NULL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 — NULL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NULL represents an unknown/missing value; arithmetic with NULL yields NULL.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Output Trap 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200" b="1">
                <a:solidFill>
                  <a:srgbClr val="F5F8FF"/>
                </a:solidFill>
                <a:latin typeface="Consolas"/>
              </a:rPr>
              <a:t>COUNT(*) vs COUNT(salary): are they always equal?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Only with JOIN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Only with GROUP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Consolas"/>
              </a:rPr>
              <a:t>COUNT(*) counts rows; COUNT(column) ignores NULLs.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Output Trap #3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How do you correctly filter NULL salaries?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salary = NULL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salary IS NULL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salary == NULL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salary &lt;&gt; 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salary IS NULL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NULL is tested with IS NULL / IS NOT NULL, not equality.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SQL MILLIONAIRE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The money goes up. So does the difficulty.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10k   →   100k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₹10,000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clause sorts the final result?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SORT BY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ORDER BY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GROUP BY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ARRANGE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ORDER BY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ORDER BY controls the result ordering.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₹50,000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clause filters grouped results?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WHERE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HAVING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FILTER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ORDER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HAVING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Consolas"/>
              </a:rPr>
              <a:t>Use HAVING after GROUP BY for aggregate-based filtering.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₹100,000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Find employees earning above the average salary.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GROUP BY salary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WHERE salary &gt; AVG(salary)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WHERE salary &gt; (SELECT AVG(salary)...)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HAVING salary &gt; AVG(salary)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 — Subquery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Compare each row's salary to the aggregate average using a subquery.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SQL BATTLE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Two teams. One query. 60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50 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BATTLE ARENA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Top 3 highest-paid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Team A vs Team B · 60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3246120" cy="14173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926080"/>
            <a:ext cx="64008" cy="141732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27248"/>
            <a:ext cx="27889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THE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11880"/>
            <a:ext cx="278892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employees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id | name | salary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926080"/>
            <a:ext cx="6903720" cy="141732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926080"/>
            <a:ext cx="64008" cy="141732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127248"/>
            <a:ext cx="64465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YOUR 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611880"/>
            <a:ext cx="644652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Write the SQL query that returns the 3 highest salaries.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F5F8FF"/>
                </a:solidFill>
                <a:latin typeface="Aptos"/>
              </a:rPr>
              <a:t>TIME: 60 SEC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983480"/>
            <a:ext cx="67665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Consolas"/>
              </a:rPr>
              <a:t>Bonus: explain your choice of ORDER BY + LIMIT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SQL DETECTIVE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Turn a business question into a query.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75 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THE INVESTIGATION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Which department has the highest average salary?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Think like a data engineer: group   →   aggregate   →   rank   →   select.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17520"/>
            <a:ext cx="2468880" cy="160020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017520"/>
            <a:ext cx="64008" cy="16002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201168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GROUP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department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017520"/>
            <a:ext cx="2468880" cy="160020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017520"/>
            <a:ext cx="64008" cy="1600200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21868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703320"/>
            <a:ext cx="201168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CALCULATE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AVG(salary)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17520"/>
            <a:ext cx="2468880" cy="160020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017520"/>
            <a:ext cx="64008" cy="160020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1868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201168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SORT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DESC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3017520"/>
            <a:ext cx="2468880" cy="1600200"/>
          </a:xfrm>
          <a:prstGeom prst="roundRect">
            <a:avLst/>
          </a:prstGeom>
          <a:solidFill>
            <a:srgbClr val="16192C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59" y="3017520"/>
            <a:ext cx="64008" cy="1600200"/>
          </a:xfrm>
          <a:prstGeom prst="rect">
            <a:avLst/>
          </a:prstGeom>
          <a:solidFill>
            <a:srgbClr val="48EB9B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321868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703320"/>
            <a:ext cx="201168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PICK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top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Consolas"/>
              </a:rPr>
              <a:t>Possible pattern: GROUP BY   →   AVG   →   ORDER BY DESC   →   LIMIT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FINAL BOSS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Everything you learned comes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100 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THE FINAL BOSS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Second-highest department average salary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3 minutes · Every team answers · Be ready to explain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607040" cy="1234440"/>
          </a:xfrm>
          <a:prstGeom prst="roundRect">
            <a:avLst/>
          </a:prstGeom>
          <a:solidFill>
            <a:srgbClr val="16192C"/>
          </a:solidFill>
          <a:ln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82112"/>
            <a:ext cx="1280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136392"/>
            <a:ext cx="84124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Find the department with the SECOND-HIGHEST average salary.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599432"/>
            <a:ext cx="9418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Consolas"/>
              </a:rPr>
              <a:t>GROUP BY · AVG() · ORDER BY · DESC · OFFSET / ranking logic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FINALE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31520"/>
            <a:ext cx="91440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96012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SQL WAR CHAMPIONS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74519"/>
            <a:ext cx="96012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TEAM 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246120"/>
            <a:ext cx="89611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“SQL is not about memorizing every command.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94760"/>
            <a:ext cx="89611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It’s about knowing how to think with data.”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983480"/>
            <a:ext cx="9144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THANK YOU · THINK. QUERY. WIN.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ONE LAST 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You just solved SQL problems as a team.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That is data engineering: understand the question   →   reason about the data   →   build the 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2468880" cy="155448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71800"/>
            <a:ext cx="64008" cy="155448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201168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the business 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971800"/>
            <a:ext cx="2468880" cy="155448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2971800"/>
            <a:ext cx="64008" cy="1554480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657600"/>
            <a:ext cx="201168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about the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71800"/>
            <a:ext cx="2468880" cy="155448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971800"/>
            <a:ext cx="64008" cy="155448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201168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the query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2971800"/>
            <a:ext cx="2468880" cy="1554480"/>
          </a:xfrm>
          <a:prstGeom prst="roundRect">
            <a:avLst/>
          </a:prstGeom>
          <a:solidFill>
            <a:srgbClr val="16192C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59" y="2971800"/>
            <a:ext cx="64008" cy="1554480"/>
          </a:xfrm>
          <a:prstGeom prst="rect">
            <a:avLst/>
          </a:prstGeom>
          <a:solidFill>
            <a:srgbClr val="48EB9B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657600"/>
            <a:ext cx="201168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your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THANK YOU, SQL WARRIORS ⚔️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